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6E2F2"/>
                </a:solidFill>
                <a:latin typeface="Calibri"/>
              </a:rPr>
              <a:t>МДК.04.02  ·  Занятие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Виды логистических систем. Границы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10128"/>
            <a:ext cx="50292" cy="2542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55848"/>
            <a:ext cx="10545775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Различать микро- и макрологистические системы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Знать три вида систем по числу посредников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Определять границу логистической системы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Сравнивать схемы по маршрутам и затратам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72"/>
                </a:solidFill>
                <a:latin typeface="Calibri"/>
              </a:rPr>
              <a:t>ДЛ 301-2024  ·  38.02.03 Операционная деятельность в логистике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Вопрос для начала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1737360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Почему завод не возит товар в каждый магазин напрямую, а строит распределительный склад?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0792"/>
            <a:ext cx="1091153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Подумайте: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Сколько получится маршрутов при прямой доставке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Что дороже: рейс или обработка на складе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Чем приходится платить за экономию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Две системы по масштабу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56232"/>
            <a:ext cx="10911535" cy="2286000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56232"/>
            <a:ext cx="64008" cy="228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12264"/>
            <a:ext cx="102714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Микрологистическая система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логистическая система одного предприятия: его закупки, склады, транспорт и сбыт, которыми предприятие управляет само.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799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Макрологистическая — уровень региона, отрасли, страны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В макросистеме много независимых предприятий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Цель микросистемы — прибыль предприятия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Микро- и макрологистические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Микрологистическая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Масштаб: одно предприятие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Участники: свои подразделения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Цель: снизить затраты предприятия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Управляет: руководство предприятия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Пример: логистика хлебозавода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56232"/>
            <a:ext cx="5272887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856232"/>
            <a:ext cx="4907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Макрологистическая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423160"/>
            <a:ext cx="5272887" cy="3520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624328"/>
            <a:ext cx="4870551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Масштаб: регион, отрасль, страна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Участники: независимые предприятия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Цель: развитие территории, отрасли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Управляет: орган власти, ассоциация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Пример: транспортный узел региона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Прямая логистическая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30552"/>
            <a:ext cx="5126583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240280"/>
            <a:ext cx="4888839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Производитель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51265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изготовил товар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8103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5031" y="2130552"/>
            <a:ext cx="5126583" cy="13716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3903" y="2240280"/>
            <a:ext cx="4888839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Потребитель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5031" y="3611880"/>
            <a:ext cx="51265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получил товар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5371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Признак: посредников между производителем и потребителем нет. Применяют при крупных партиях и малом числе покупателей.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Эшелонированная логистическая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30552"/>
            <a:ext cx="3198266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Производитель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отгрузил партию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29786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6714" y="2130552"/>
            <a:ext cx="3198266" cy="13716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5586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Посредник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6714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распределительный склад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86420" y="2688336"/>
            <a:ext cx="475488" cy="25603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3348" y="2130552"/>
            <a:ext cx="3198266" cy="1371600"/>
          </a:xfrm>
          <a:prstGeom prst="round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2220" y="2240280"/>
            <a:ext cx="296052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Потребитель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348" y="361188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472"/>
                </a:solidFill>
                <a:latin typeface="Calibri"/>
              </a:rPr>
              <a:t>получил свой объём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10911535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Признак: между производителем и потребителем есть хотя бы один посредник. Чем больше посредников, тем больше эшелонов.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Три вида систем по числу посредников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56232"/>
          <a:ext cx="10911533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537"/>
                <a:gridCol w="4255498"/>
                <a:gridCol w="4255498"/>
              </a:tblGrid>
              <a:tr h="976122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Вид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Признак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Когда применяют</a:t>
                      </a:r>
                    </a:p>
                  </a:txBody>
                  <a:tcPr marL="109728" marR="91440" marT="36576" marB="36576" anchor="ctr">
                    <a:solidFill>
                      <a:srgbClr val="1F3864"/>
                    </a:solidFill>
                  </a:tcPr>
                </a:tc>
              </a:tr>
              <a:tr h="976122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Прямая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Посредников нет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Крупные партии, мало покупателей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  <a:tr h="976122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Эшелонированная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Есть посредник (склад, дилер)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Много мелких покупателей</a:t>
                      </a:r>
                    </a:p>
                  </a:txBody>
                  <a:tcPr marL="109728" marR="91440" marT="36576" marB="36576" anchor="ctr">
                    <a:noFill/>
                  </a:tcPr>
                </a:tc>
              </a:tr>
              <a:tr h="976122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Гибкая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Часть потока напрямую, часть через посредника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Есть и крупные, и мелкие клиенты</a:t>
                      </a:r>
                    </a:p>
                  </a:txBody>
                  <a:tcPr marL="109728" marR="91440" marT="36576" marB="36576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472"/>
                </a:solidFill>
                <a:latin typeface="Calibri"/>
              </a:rPr>
              <a:t>Гибкая система — не «средняя», а сознательное сочетание двух схем для разных групп клиентов.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1. Считаем число маршрутов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581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3 поставщика отгружают товар, 4 магазина его принимают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Вариант А — прямая доставка каждому магазину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Вариант Б — через один распределительный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02152"/>
            <a:ext cx="10911535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Вариант А: каждый поставщик едет в каждый магазин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3 × 4 = 12 маршрутов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Вариант Б: поставщики на склад, склад по магазинам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3 + 4 = 7 маршрутов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1. Насколько сократились маршруты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124358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Вариант А — 12 маршрутов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Вариант Б — 7 маршрутов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63824"/>
            <a:ext cx="10911535" cy="2221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Считаем сокращение в процентах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(12 − 7) / 12 × 100 % = 5 / 12 × 100 % ≈ 41,7 %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Читаем результат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     Склад собрал потоки в одну точку — рейсов стало почти вдвое меньше.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склад сократил число маршрутов с 12 до 7 — почти на 42 %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Пример 2. Считаем затраты по двум вариантам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11535" cy="9052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37944"/>
            <a:ext cx="10454335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A6472"/>
                </a:solidFill>
                <a:latin typeface="Calibri"/>
              </a:rPr>
              <a:t>Дано (данные условные):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   Маршрут — 8 000 руб.; обработка — 300 руб./т; партия — 20 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25496"/>
            <a:ext cx="1091153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1. Затраты по варианту А (прямая доставка)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12 × 8 000 = 96 000 руб.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2. Затраты по варианту Б (через склад)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7 × 8 000 + 20 × 300 = 56 000 + 6 000 = 62 000 руб.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3. Находим экономию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Consolas"/>
              </a:rPr>
              <a:t>     96 000 − 62 000 = 34 000 руб.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13832"/>
            <a:ext cx="10911535" cy="566928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513832"/>
            <a:ext cx="64008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13832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Ответ: вариант Б дешевле на 34 000 руб., но добавляет звено и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Где проходит граница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911535" cy="417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1">
                <a:solidFill>
                  <a:srgbClr val="5A6472"/>
                </a:solidFill>
                <a:latin typeface="Calibri"/>
              </a:rPr>
              <a:t>Правило: границу задаёт тот, кто оценивает систему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Внутри границы — считаем показатели и отвечаем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За границей — только учитываем как условие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Для завода перевозчик — внешнее звено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Для перевозчика его машины — внутри системы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•  Одна цепь даёт разные границы разным участникам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Закрепление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1.  Чем микрологистическая система отличается от макрологистической?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2.  По какому признаку систему называют эшелонированной?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3.  5 поставщиков и 6 магазинов. Сколько маршрутов при прямой доставке и сколько через один склад?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4.  Почему экономия на маршрутах не означает, что вариант лучше?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5.  Кто определяет границу логистической системы и по какому правилу?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Итог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4133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По масштабу системы бывают микро- и макро-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По числу посредников — прямые, эшелонированные, гибкие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Посредник сокращает число маршрутов и затраты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Плата за это — новое звено и время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—  Границу системы задаёт тот, кто её оценивает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864"/>
                </a:solidFill>
                <a:latin typeface="Calibri"/>
              </a:rPr>
              <a:t>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463040" cy="2667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911535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6400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9696"/>
            <a:ext cx="1032631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Определить вид логистической системы своей компании по двум классификациям.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Вид по масштабу и вид по числу посредников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На каждый вид — признак из конспекта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 Указать границу системы и обосновать её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33672"/>
            <a:ext cx="10911535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A6472"/>
                </a:solidFill>
                <a:latin typeface="Calibri"/>
              </a:rPr>
              <a:t>Опорный учебник: Гаджинский А. М. Логистика. — М.: Дашков и К,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МДК.04.02 «Оценка эффективности и контроль логистических систем»  ·  Занятие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