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6E2F2"/>
                </a:solidFill>
                <a:latin typeface="Calibri"/>
              </a:rPr>
              <a:t>МДК.04.02  ·  Занятие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Введение в МДК. Зачем оценивать логистику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Цели занятия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10128"/>
            <a:ext cx="50292" cy="2542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55848"/>
            <a:ext cx="10545775" cy="2542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Понять, зачем предприятию оценивать логистику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Узнать структуру курса и форму экзамена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Научиться считать долю логистических издержек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Научиться объяснять полученное число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Calibri"/>
              </a:rPr>
              <a:t>ДЛ 301-2024  ·  38.02.03 Операционная деятельность в логистике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С чего начнём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01952"/>
            <a:ext cx="10911535" cy="1737360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01952"/>
            <a:ext cx="6400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76272"/>
            <a:ext cx="1027145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Calibri"/>
              </a:rPr>
              <a:t>Предприятие продало товар на 50 000 000 руб. за год. Сколько из этой суммы забрала логистика?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0792"/>
            <a:ext cx="10911535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A6472"/>
                </a:solidFill>
                <a:latin typeface="Calibri"/>
              </a:rPr>
              <a:t>Подумайте: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Из чего вообще состоят расходы на логистику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Как понять, много это или мало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С чем сравнивать результат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Зачем предприятию оценивать логистику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911535" cy="4178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1">
                <a:solidFill>
                  <a:srgbClr val="5A6472"/>
                </a:solidFill>
                <a:latin typeface="Calibri"/>
              </a:rPr>
              <a:t>Пять причин, по которым считают показатели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Увидеть, куда уходят деньги предприятия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Сравнить варианты доставки по затратам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Найти узкие места в процессах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Поставить цели складу и транспорту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Подтвердить эффект принятых решений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Логика курса: от цели к решению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130552"/>
            <a:ext cx="2234107" cy="1371600"/>
          </a:xfrm>
          <a:prstGeom prst="round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2240280"/>
            <a:ext cx="1996363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Цели предприятия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223410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снизить затраты, ускорить доставку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65627" y="2688336"/>
            <a:ext cx="475488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32555" y="2130552"/>
            <a:ext cx="2234107" cy="1371600"/>
          </a:xfrm>
          <a:prstGeom prst="round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1427" y="2240280"/>
            <a:ext cx="1996363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Показатели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2555" y="3611880"/>
            <a:ext cx="223410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что именно измеряем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8102" y="2688336"/>
            <a:ext cx="475488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25030" y="2130552"/>
            <a:ext cx="2234107" cy="13716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3902" y="2240280"/>
            <a:ext cx="1996363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Расчёт и анализ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0" y="3611880"/>
            <a:ext cx="223410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считаем, сравниваем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50577" y="2688336"/>
            <a:ext cx="475488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17505" y="2130552"/>
            <a:ext cx="2234107" cy="1371600"/>
          </a:xfrm>
          <a:prstGeom prst="round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36377" y="2240280"/>
            <a:ext cx="1996363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Решение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7505" y="3611880"/>
            <a:ext cx="223410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что меняем в работе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53712"/>
            <a:ext cx="10911535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5A6472"/>
                </a:solidFill>
                <a:latin typeface="Calibri"/>
              </a:rPr>
              <a:t>Наш курс — третий шаг: считать показатели и объяснять результат.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Структура курса: 84 часа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56232"/>
          <a:ext cx="10911534" cy="3904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2844"/>
                <a:gridCol w="1309384"/>
                <a:gridCol w="5019306"/>
              </a:tblGrid>
              <a:tr h="557784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Разделы</a:t>
                      </a:r>
                    </a:p>
                  </a:txBody>
                  <a:tcPr marL="109728" marR="91440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Часы</a:t>
                      </a:r>
                    </a:p>
                  </a:txBody>
                  <a:tcPr marL="109728" marR="91440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Что считаем</a:t>
                      </a:r>
                    </a:p>
                  </a:txBody>
                  <a:tcPr marL="109728" marR="91440" marT="36576" marB="36576" anchor="ctr">
                    <a:solidFill>
                      <a:srgbClr val="1F3864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1. Логистическая система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Цикл заказа, правило 7R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2. Логистические издержки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Совокупные затраты, доля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3. Оценка запасов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Оборачиваемость, ABC/XYZ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4–5. Склад и транспорт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Грузооборот, пробег, тариф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6–7. Сервис и KPI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Уровень сервиса, OTIF, KPI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8–9. Контроль и обобщение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План — факт, аутсорсинг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A6472"/>
                </a:solidFill>
                <a:latin typeface="Calibri"/>
              </a:rPr>
              <a:t>1 семестр — 39 ч, 2 семестр — 45 ч. Четыре контрольные точки. Экзамен во 2 семестре.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Пример 1. Условие и первые действия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911535" cy="1920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37944"/>
            <a:ext cx="10454335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A6472"/>
                </a:solidFill>
                <a:latin typeface="Calibri"/>
              </a:rPr>
              <a:t>Дано (данные условные):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Выручка за год — 50 000 000 руб.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Транспорт — 2 400 000 руб., склад — 1 800 000 руб.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Содержание запасов — 1 300 000 руб.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Закупки и управление — 500 000 руб.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1. Складываем все логистические затраты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2 400 000 + 1 800 000 + 1 300 000 + 500 000 = 6 000 000 руб.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2. Делим затраты на выручку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6 000 000 / 50 000 000 = 0,12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Пример 1. Результат и его смысл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3648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1. Переводим долю в проценты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0,12 × 100 % = 12 %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2. Читаем полученное число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0" i="1">
                <a:solidFill>
                  <a:srgbClr val="5A6472"/>
                </a:solidFill>
                <a:latin typeface="Calibri"/>
              </a:rPr>
              <a:t>     Из каждых 100 рублей выручки 12 рублей ушло на логистику.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3. Проверяем обратным счётом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50 000 000 × 0,12 = 6 000 000 руб.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513832"/>
            <a:ext cx="10911535" cy="566928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5513832"/>
            <a:ext cx="64008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13832"/>
            <a:ext cx="103628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Ответ: логистика забрала 12 % выручки — 6 млн руб. из 50 млн руб.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Пример 2. Сравниваем два предприятия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911535" cy="15819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37944"/>
            <a:ext cx="10454335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A6472"/>
                </a:solidFill>
                <a:latin typeface="Calibri"/>
              </a:rPr>
              <a:t>Дано (данные условные):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Предприятие А — доля издержек 12 %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Предприятие Б — доля издержек 18 %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Выручка у обоих одинаковая — 50 000 000 руб.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02152"/>
            <a:ext cx="10911535" cy="188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1. Считаем издержки предприятия Б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50 000 000 × 0,18 = 9 000 000 руб.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2. Находим разницу с предприятием 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9 000 000 − 6 000 000 = 3 000 000 руб.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513832"/>
            <a:ext cx="10911535" cy="566928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513832"/>
            <a:ext cx="64008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13832"/>
            <a:ext cx="103628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Ответ: у Б логистика дороже на 3 000 000 руб. при той же выручке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Два способа управлять логистикой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56232"/>
            <a:ext cx="5272887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56232"/>
            <a:ext cx="49071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На глаз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5272887" cy="3520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624328"/>
            <a:ext cx="4870551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«Кажется, доставка дорогая»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Решения по интуиции руководителя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Причину роста затрат не находят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Спор решается громкостью голоса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856232"/>
            <a:ext cx="5272887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856232"/>
            <a:ext cx="49071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По показателям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2423160"/>
            <a:ext cx="5272887" cy="3520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9895" y="2624328"/>
            <a:ext cx="4870551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«Доля издержек выросла с 12 до 15 %»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Решения по расчёту вариантов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Видно, какое звено дало рост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Спор решается цифрой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Закрепление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56232"/>
            <a:ext cx="10911535" cy="4133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1.  Зачем предприятию считать логистические издержки?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2.  Как найти долю логистических издержек в выручке?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3.  У предприятия доля 15 %. Много это или мало и от чего зависит ответ?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4.  Почему недостаточно только посчитать показатель?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Итог занятия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56232"/>
            <a:ext cx="10911535" cy="4133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Логистику оценивают числом, а не словами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Базовый показатель — доля издержек в выручке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Формула простая: затраты делим на выручку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Посчитать мало — нужно объяснить результат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Курс — 84 часа, аттестация в форме экзамена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Домашнее задание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01952"/>
            <a:ext cx="10911535" cy="2011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01952"/>
            <a:ext cx="6400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39696"/>
            <a:ext cx="1032631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Описать пять логистических процессов знакомой компании.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Указать исполнителя каждого процесса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Написать, что в процессе можно измерить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Объём — до одной страницы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33672"/>
            <a:ext cx="10911535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5A6472"/>
                </a:solidFill>
                <a:latin typeface="Calibri"/>
              </a:rPr>
              <a:t>Опорный учебник: Гаджинский А. М. Логистика. — М.: Дашков и К, 2017.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